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7404da82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7404da82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b991e4b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b991e4b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b991e4b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b991e4b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916dd1b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916dd1b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916dd1b6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916dd1b6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b991e4b1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b991e4b1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916dd1b6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916dd1b6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916dd1b6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916dd1b6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916dd1b6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916dd1b6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916dd1b6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916dd1b6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916dd1b6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916dd1b6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916dd1b6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916dd1b6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916dd1b6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916dd1b6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916dd1b6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916dd1b6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916dd1b6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916dd1b6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emirkaanozdemir@gmail.com" TargetMode="External"/><Relationship Id="rId4" Type="http://schemas.openxmlformats.org/officeDocument/2006/relationships/hyperlink" Target="https://github.com/emirkaanozdemr/QuChaTeR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3350"/>
              <a:t>QuChaTeR: A Hybrid Quantum-Chaotic Temporal Framework for Earthquake Prediction</a:t>
            </a:r>
            <a:endParaRPr sz="335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000">
                <a:solidFill>
                  <a:schemeClr val="dk1"/>
                </a:solidFill>
              </a:rPr>
              <a:t>Emir Kaan Özdemir - </a:t>
            </a:r>
            <a:r>
              <a:rPr lang="tr" sz="2000">
                <a:solidFill>
                  <a:schemeClr val="dk1"/>
                </a:solidFill>
              </a:rPr>
              <a:t>İstanbul</a:t>
            </a:r>
            <a:r>
              <a:rPr lang="tr" sz="2000">
                <a:solidFill>
                  <a:schemeClr val="dk1"/>
                </a:solidFill>
              </a:rPr>
              <a:t> Erkek High School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000">
                <a:solidFill>
                  <a:schemeClr val="dk1"/>
                </a:solidFill>
              </a:rPr>
              <a:t>Ministry</a:t>
            </a:r>
            <a:r>
              <a:rPr lang="tr" sz="2000">
                <a:solidFill>
                  <a:schemeClr val="dk1"/>
                </a:solidFill>
              </a:rPr>
              <a:t> of National Education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1363" y="0"/>
            <a:ext cx="2361276" cy="12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4090" y="3487675"/>
            <a:ext cx="1314475" cy="13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Introduction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312775"/>
            <a:ext cx="8520600" cy="28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Signal processing is required to try to forecast earthquakes, and this is mostly done with classical algorithms and computers.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This study examines a framework that makes earthquake predictions using a hybrid algorithm (combination of quantum and classical algorithms).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Motivation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Earthquake signals are nonlinear, chaotic, and non-stationary.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Classical models fail to capture complex temporal dynamics.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Can chaos theory + quantum computing improve prediction?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Related Works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tr">
                <a:solidFill>
                  <a:schemeClr val="dk1"/>
                </a:solidFill>
              </a:rPr>
              <a:t>Chaos-based modeling:</a:t>
            </a:r>
            <a:br>
              <a:rPr b="1" lang="tr">
                <a:solidFill>
                  <a:schemeClr val="dk1"/>
                </a:solidFill>
              </a:rPr>
            </a:br>
            <a:r>
              <a:rPr lang="tr">
                <a:solidFill>
                  <a:schemeClr val="dk1"/>
                </a:solidFill>
              </a:rPr>
              <a:t> Yi et al. (2010) → Captures nonlinear/chaotic patterns in seismic time series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tr">
                <a:solidFill>
                  <a:schemeClr val="dk1"/>
                </a:solidFill>
              </a:rPr>
              <a:t>Wavelet-based methods:</a:t>
            </a:r>
            <a:br>
              <a:rPr b="1" lang="tr">
                <a:solidFill>
                  <a:schemeClr val="dk1"/>
                </a:solidFill>
              </a:rPr>
            </a:br>
            <a:r>
              <a:rPr lang="tr">
                <a:solidFill>
                  <a:schemeClr val="dk1"/>
                </a:solidFill>
              </a:rPr>
              <a:t> Yamamoto &amp; Baker → Multi-scale temporal feature extraction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tr">
                <a:solidFill>
                  <a:schemeClr val="dk1"/>
                </a:solidFill>
              </a:rPr>
              <a:t>Deep learning models:</a:t>
            </a:r>
            <a:br>
              <a:rPr b="1" lang="tr">
                <a:solidFill>
                  <a:schemeClr val="dk1"/>
                </a:solidFill>
              </a:rPr>
            </a:br>
            <a:r>
              <a:rPr lang="tr">
                <a:solidFill>
                  <a:schemeClr val="dk1"/>
                </a:solidFill>
              </a:rPr>
              <a:t> Hamdi et al. (2024) → Bi-LSTM outperforms LSTM (long-term dependencies)</a:t>
            </a:r>
            <a:br>
              <a:rPr lang="tr">
                <a:solidFill>
                  <a:schemeClr val="dk1"/>
                </a:solidFill>
              </a:rPr>
            </a:br>
            <a:r>
              <a:rPr lang="tr">
                <a:solidFill>
                  <a:schemeClr val="dk1"/>
                </a:solidFill>
              </a:rPr>
              <a:t> Sneka &amp; Kanchana (2025) → CNN–LSTM improves geolocation-based forecasting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tr">
                <a:solidFill>
                  <a:schemeClr val="dk1"/>
                </a:solidFill>
              </a:rPr>
              <a:t>Quantum-inspired models:</a:t>
            </a:r>
            <a:br>
              <a:rPr b="1" lang="tr">
                <a:solidFill>
                  <a:schemeClr val="dk1"/>
                </a:solidFill>
              </a:rPr>
            </a:br>
            <a:r>
              <a:rPr lang="tr">
                <a:solidFill>
                  <a:schemeClr val="dk1"/>
                </a:solidFill>
              </a:rPr>
              <a:t> Dutta et al. (2025) → Hybrid quantum neural networks for tsunami prediction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575950" y="4458300"/>
            <a:ext cx="45975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900">
                <a:solidFill>
                  <a:schemeClr val="dk1"/>
                </a:solidFill>
              </a:rPr>
              <a:t>[1] Yi et al., ICISS, 2010                             [</a:t>
            </a:r>
            <a:r>
              <a:rPr lang="tr" sz="900">
                <a:solidFill>
                  <a:schemeClr val="dk1"/>
                </a:solidFill>
              </a:rPr>
              <a:t>4] Sneka &amp; Kanchana, JAICN, 2025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900">
                <a:solidFill>
                  <a:schemeClr val="dk1"/>
                </a:solidFill>
              </a:rPr>
              <a:t>[2] Yamamoto &amp; Baker, BSSA, 2013          </a:t>
            </a:r>
            <a:r>
              <a:rPr lang="tr" sz="900">
                <a:solidFill>
                  <a:schemeClr val="dk1"/>
                </a:solidFill>
              </a:rPr>
              <a:t>[5] Dutta et al., EPJ QT, 2025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900">
                <a:solidFill>
                  <a:schemeClr val="dk1"/>
                </a:solidFill>
              </a:rPr>
              <a:t>[3] Hamdi et al., IJECBE, 2024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Dataset &amp; Preprocessing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tr">
                <a:solidFill>
                  <a:schemeClr val="dk1"/>
                </a:solidFill>
              </a:rPr>
              <a:t>Dataset:</a:t>
            </a:r>
            <a:r>
              <a:rPr lang="tr">
                <a:solidFill>
                  <a:schemeClr val="dk1"/>
                </a:solidFill>
              </a:rPr>
              <a:t> Northern California Earthquake Data Center — 512-hour seismic time-series used for binary earthquake prediction.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1"/>
                </a:solidFill>
              </a:rPr>
              <a:t>Preprocessing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Class imbalance handled using SMOTE.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Signals normalized and missing values imputed.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Wavelet Transform (DWT) applied for noise reduction and multi-scale feature extraction.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635625" y="4568875"/>
            <a:ext cx="45861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solidFill>
                  <a:schemeClr val="dk1"/>
                </a:solidFill>
              </a:rPr>
              <a:t>[6] https://www.timeseriesclassification.com/description.php?Dataset=Earthquakes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QuChaTeR Architecture Overview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-2507550" y="511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 title="mermaid-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0204"/>
            <a:ext cx="9144003" cy="3652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QuChaTeR in One Equation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213" y="2197525"/>
            <a:ext cx="8787575" cy="74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The Chaotic Engine: Nonlinear Perturbation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1"/>
                </a:solidFill>
              </a:rPr>
              <a:t>Chaotic Injection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Logistic Map perturbation: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Hénon Map dynamics: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1"/>
                </a:solidFill>
              </a:rPr>
              <a:t>Parameters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tr">
                <a:solidFill>
                  <a:schemeClr val="dk1"/>
                </a:solidFill>
              </a:rPr>
              <a:t>                                        </a:t>
            </a:r>
            <a:r>
              <a:rPr lang="tr">
                <a:solidFill>
                  <a:schemeClr val="dk1"/>
                </a:solidFill>
              </a:rPr>
              <a:t>(Bounded chaotic regime)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tr">
                <a:solidFill>
                  <a:schemeClr val="dk1"/>
                </a:solidFill>
              </a:rPr>
              <a:t>                               </a:t>
            </a:r>
            <a:r>
              <a:rPr lang="tr">
                <a:solidFill>
                  <a:schemeClr val="dk1"/>
                </a:solidFill>
              </a:rPr>
              <a:t>(Bayesian optimization result)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300" y="1751350"/>
            <a:ext cx="18573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6750" y="2041950"/>
            <a:ext cx="31527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025" y="2945835"/>
            <a:ext cx="2412125" cy="3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1825" y="3292740"/>
            <a:ext cx="1657283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613050" y="4220050"/>
            <a:ext cx="213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900">
                <a:solidFill>
                  <a:schemeClr val="dk1"/>
                </a:solidFill>
              </a:rPr>
              <a:t>[7] May, Nature, 1976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solidFill>
                  <a:schemeClr val="dk1"/>
                </a:solidFill>
              </a:rPr>
              <a:t>[8] Hénon, CMP, 1976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Quantum Embedding Layer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1"/>
                </a:solidFill>
              </a:rPr>
              <a:t>Configuration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tr" sz="1500">
                <a:solidFill>
                  <a:schemeClr val="dk1"/>
                </a:solidFill>
              </a:rPr>
              <a:t>6-qubit variational circuit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tr" sz="1500">
                <a:solidFill>
                  <a:schemeClr val="dk1"/>
                </a:solidFill>
              </a:rPr>
              <a:t>Rotation gates                + entanglement (CNOT)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063" y="1152475"/>
            <a:ext cx="1181875" cy="33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6738" y="1815950"/>
            <a:ext cx="2710536" cy="33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7813" y="2479425"/>
            <a:ext cx="2108396" cy="33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1771" y="3869375"/>
            <a:ext cx="783200" cy="20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457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400">
                <a:solidFill>
                  <a:schemeClr val="dk1"/>
                </a:solidFill>
              </a:rPr>
              <a:t>Models Compared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tr" sz="1400">
                <a:solidFill>
                  <a:schemeClr val="dk1"/>
                </a:solidFill>
              </a:rPr>
              <a:t>RNN, LSTM, GRU, 1D-CNN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tr" sz="1400">
                <a:solidFill>
                  <a:schemeClr val="dk1"/>
                </a:solidFill>
              </a:rPr>
              <a:t>Reservoir Computing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tr" sz="1400">
                <a:solidFill>
                  <a:schemeClr val="dk1"/>
                </a:solidFill>
              </a:rPr>
              <a:t>Quantum LSTM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400">
                <a:solidFill>
                  <a:schemeClr val="dk1"/>
                </a:solidFill>
              </a:rPr>
              <a:t>Training Setup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tr" sz="1400">
                <a:solidFill>
                  <a:schemeClr val="dk1"/>
                </a:solidFill>
              </a:rPr>
              <a:t>50 epochs, Adam optimizer (lr = 0.001)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tr" sz="1400">
                <a:solidFill>
                  <a:schemeClr val="dk1"/>
                </a:solidFill>
              </a:rPr>
              <a:t>Same conditions for all models (fair comparison)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tr" sz="1400">
                <a:solidFill>
                  <a:schemeClr val="dk1"/>
                </a:solidFill>
              </a:rPr>
              <a:t>Train / validation / independent test split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tr" sz="1400">
                <a:solidFill>
                  <a:schemeClr val="dk1"/>
                </a:solidFill>
              </a:rPr>
              <a:t>NVIDIA L4 GPU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Experimental Setup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5184900" y="1208125"/>
            <a:ext cx="3647400" cy="3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>
                <a:solidFill>
                  <a:schemeClr val="dk1"/>
                </a:solidFill>
              </a:rPr>
              <a:t>Quantum Setup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tr">
                <a:solidFill>
                  <a:schemeClr val="dk1"/>
                </a:solidFill>
              </a:rPr>
              <a:t>PennyLane simulator (noise-free)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tr">
                <a:solidFill>
                  <a:schemeClr val="dk1"/>
                </a:solidFill>
              </a:rPr>
              <a:t>6-qubit configuration selected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>
                <a:solidFill>
                  <a:schemeClr val="dk1"/>
                </a:solidFill>
              </a:rPr>
              <a:t>Evaluation Metrics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tr">
                <a:solidFill>
                  <a:schemeClr val="dk1"/>
                </a:solidFill>
              </a:rPr>
              <a:t>Accuracy, Precision, Recall, F1-score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tr">
                <a:solidFill>
                  <a:schemeClr val="dk1"/>
                </a:solidFill>
              </a:rPr>
              <a:t>Generalization Stability (G) metric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200" y="3931350"/>
            <a:ext cx="3357101" cy="29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Results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3375" y="3603825"/>
            <a:ext cx="4457250" cy="96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6113" y="1152475"/>
            <a:ext cx="6531775" cy="18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Results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9802" y="1017725"/>
            <a:ext cx="6084400" cy="393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Discussion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This study has shown that quantum-hybrid architectures are quite successful.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However, it should be noted that this study is not yet possible with current quantum computers. Therefore, it was carried out using simulators.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Future Work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Evaluation on real quantum hardware (NISQ devices)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Scaling to larger and more diverse seismic datasets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Exploration of deeper quantum circuits and architectures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Thank You for Your Attention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100">
                <a:solidFill>
                  <a:schemeClr val="dk1"/>
                </a:solidFill>
              </a:rPr>
              <a:t>Emir Kaan Özdemir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2100">
                <a:solidFill>
                  <a:schemeClr val="dk1"/>
                </a:solidFill>
              </a:rPr>
              <a:t>Contact: </a:t>
            </a:r>
            <a:r>
              <a:rPr lang="tr" sz="2100" u="sng">
                <a:solidFill>
                  <a:schemeClr val="hlink"/>
                </a:solidFill>
                <a:hlinkClick r:id="rId3"/>
              </a:rPr>
              <a:t>emirkaanozdemir@gmail.com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tr" sz="2100">
                <a:solidFill>
                  <a:schemeClr val="dk1"/>
                </a:solidFill>
              </a:rPr>
              <a:t>Codes: </a:t>
            </a:r>
            <a:r>
              <a:rPr lang="tr" sz="2100" u="sng">
                <a:solidFill>
                  <a:schemeClr val="hlink"/>
                </a:solidFill>
                <a:hlinkClick r:id="rId4"/>
              </a:rPr>
              <a:t>https://github.com/emirkaanozdemr/QuChaTeR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Questions?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